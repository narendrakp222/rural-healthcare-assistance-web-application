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108960" cy="310896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572000"/>
            <a:ext cx="3291840" cy="3291840"/>
          </a:xfrm>
          <a:prstGeom prst="ellipse">
            <a:avLst/>
          </a:prstGeom>
          <a:solidFill>
            <a:srgbClr val="02C39A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68580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/home/claude/ppt/icons/title_he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89611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874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SERVICE PROJECT (CSP)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24028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Rural Healthcare Assistance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Application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822960" y="3977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healthcare access, medicine reminders, and health record management for rural communities.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2960" y="4617720"/>
            <a:ext cx="10515600" cy="1600200"/>
          </a:xfrm>
          <a:prstGeom prst="rect">
            <a:avLst>
              <a:gd name="adj" fmla="val 4571"/>
            </a:avLst>
          </a:prstGeom>
          <a:solidFill>
            <a:srgbClr val="05464C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051560" y="502920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Narendra Kumar Paswan  (Team Leader)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Govinda Aryal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Sumit Aryal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Mekala Anil Kumar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Shah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58368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GUIDE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583680" y="50292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T. Amruthavalli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583680" y="533095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Science and Engineering (AI &amp; ML)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Venkateswara College of Engineering and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(Autonomous), Chittoor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communities continue to face significant barriers to consistent, organized, and informed healthcare.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028090"/>
          </a:solidFill>
          <a:ln/>
          <a:effectLst>
            <a:outerShdw sx="100000" sy="100000" kx="0" ky="0" algn="bl" rotWithShape="0" blurRad="76200" dist="25400" dir="5400000">
              <a:srgbClr val="1B2A2E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9456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7" name="Image 0" descr="/home/claude/ppt/icons/prob_reco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340864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8803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Healthcare Management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33832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9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system to manage patient care and history.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160520" y="196596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028090"/>
          </a:solidFill>
          <a:ln/>
          <a:effectLst>
            <a:outerShdw sx="100000" sy="100000" kx="0" ky="0" algn="bl" rotWithShape="0" blurRad="76200" dist="25400" dir="5400000">
              <a:srgbClr val="1B2A2E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89120" y="219456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1" descr="/home/claude/ppt/icons/prob_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424" y="234086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89120" y="28803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Maintaining Records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389120" y="33832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9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records are scattered, paper-based, or lost.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772400" y="196596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028090"/>
          </a:solidFill>
          <a:ln/>
          <a:effectLst>
            <a:outerShdw sx="100000" sy="100000" kx="0" ky="0" algn="bl" rotWithShape="0" blurRad="76200" dist="25400" dir="5400000">
              <a:srgbClr val="1B2A2E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01000" y="219456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7" name="Image 2" descr="/home/claude/ppt/icons/prob_pill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304" y="2340864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001000" y="28803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Medicine Schedules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001000" y="33832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9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forget doses without reminders or tracking.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434340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028090"/>
          </a:solidFill>
          <a:ln/>
          <a:effectLst>
            <a:outerShdw sx="100000" sy="100000" kx="0" ky="0" algn="bl" rotWithShape="0" blurRad="76200" dist="25400" dir="5400000">
              <a:srgbClr val="1B2A2E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77240" y="457200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2" name="Image 3" descr="/home/claude/ppt/icons/prob_calend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4718304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7240" y="52578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Appointment Management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77240" y="57607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9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easy way to schedule or track doctor visits.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160520" y="434340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028090"/>
          </a:solidFill>
          <a:ln/>
          <a:effectLst>
            <a:outerShdw sx="100000" sy="100000" kx="0" ky="0" algn="bl" rotWithShape="0" blurRad="76200" dist="25400" dir="5400000">
              <a:srgbClr val="1B2A2E">
                <a:alpha val="1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389120" y="457200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7" name="Image 4" descr="/home/claude/ppt/icons/prob_villa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5424" y="4718304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389120" y="52578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Healthcare Awareness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389120" y="57607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9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Communities lack access to reliable health information.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7772400" y="434340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028090"/>
          </a:solidFill>
          <a:ln/>
          <a:effectLst>
            <a:outerShdw sx="100000" sy="100000" kx="0" ky="0" algn="bl" rotWithShape="0" blurRad="76200" dist="25400" dir="5400000">
              <a:srgbClr val="1B2A2E">
                <a:alpha val="1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001000" y="457200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2" name="Image 5" descr="/home/claude/ppt/icons/prob_lapto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7304" y="4718304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001000" y="52578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Digital Healthcare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8001000" y="57607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9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accessible, low-cost digital solutions.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Healthcare Assistance Web Application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AIM TO ACHIEVE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22376" y="169164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EAF6F4"/>
          </a:solidFill>
          <a:ln w="12700">
            <a:solidFill>
              <a:srgbClr val="CFE8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13916" y="196596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ppt/icons/obj_reco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8508" y="213055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9536" y="28346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Health Records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465576" y="169164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EAF6F4"/>
          </a:solidFill>
          <a:ln w="12700">
            <a:solidFill>
              <a:srgbClr val="CFE8E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357116" y="196596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/home/claude/ppt/icons/obj_pil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708" y="213055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02736" y="28346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Reminder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208776" y="169164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EAF6F4"/>
          </a:solidFill>
          <a:ln w="12700">
            <a:solidFill>
              <a:srgbClr val="CFE8E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100316" y="196596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2" descr="/home/claude/ppt/icons/obj_calend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4908" y="2130552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45936" y="28346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Management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951976" y="169164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EAF6F4"/>
          </a:solidFill>
          <a:ln w="12700">
            <a:solidFill>
              <a:srgbClr val="CFE8E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843516" y="196596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3" descr="/home/claude/ppt/icons/obj_pho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8108" y="213055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089136" y="28346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Contacts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2093976" y="388620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EAF6F4"/>
          </a:solidFill>
          <a:ln w="12700">
            <a:solidFill>
              <a:srgbClr val="CFE8E5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2985516" y="416052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4" descr="/home/claude/ppt/icons/obj_boo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0108" y="4325112"/>
            <a:ext cx="402336" cy="40233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2231136" y="50292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Awareness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4837176" y="388620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EAF6F4"/>
          </a:solidFill>
          <a:ln w="12700">
            <a:solidFill>
              <a:srgbClr val="CFE8E5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5728716" y="416052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5" descr="/home/claude/ppt/icons/obj_mobi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3308" y="4325112"/>
            <a:ext cx="402336" cy="40233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974336" y="50292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Web Application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7580376" y="388620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EAF6F4"/>
          </a:solidFill>
          <a:ln w="12700">
            <a:solidFill>
              <a:srgbClr val="CFE8E5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8471916" y="416052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0" name="Image 6" descr="/home/claude/ppt/icons/obj_ui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36508" y="4325112"/>
            <a:ext cx="402336" cy="40233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717536" y="50292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Easy-to-use Interface</a:t>
            </a:r>
            <a:endParaRPr lang="en-US" sz="1250" dirty="0"/>
          </a:p>
        </p:txBody>
      </p:sp>
      <p:sp>
        <p:nvSpPr>
          <p:cNvPr id="32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Healthcare Assistance Web Application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53212" y="1691640"/>
            <a:ext cx="208483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2E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4732" y="1911096"/>
            <a:ext cx="621792" cy="621792"/>
          </a:xfrm>
          <a:prstGeom prst="ellipse">
            <a:avLst/>
          </a:prstGeom>
          <a:solidFill>
            <a:srgbClr val="EAF6F4"/>
          </a:solidFill>
          <a:ln/>
        </p:spPr>
      </p:sp>
      <p:pic>
        <p:nvPicPr>
          <p:cNvPr id="6" name="Image 0" descr="/home/claude/ppt/icons/feat_regi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1036" y="205740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4652" y="2697480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802636" y="1691640"/>
            <a:ext cx="208483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2E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34156" y="1911096"/>
            <a:ext cx="621792" cy="621792"/>
          </a:xfrm>
          <a:prstGeom prst="ellipse">
            <a:avLst/>
          </a:prstGeom>
          <a:solidFill>
            <a:srgbClr val="EAF6F4"/>
          </a:solidFill>
          <a:ln/>
        </p:spPr>
      </p:sp>
      <p:pic>
        <p:nvPicPr>
          <p:cNvPr id="10" name="Image 1" descr="/home/claude/ppt/icons/feat_log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2057400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94076" y="2697480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052060" y="1691640"/>
            <a:ext cx="208483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2E">
                <a:alpha val="14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783580" y="1911096"/>
            <a:ext cx="621792" cy="621792"/>
          </a:xfrm>
          <a:prstGeom prst="ellipse">
            <a:avLst/>
          </a:prstGeom>
          <a:solidFill>
            <a:srgbClr val="EAF6F4"/>
          </a:solidFill>
          <a:ln/>
        </p:spPr>
      </p:sp>
      <p:pic>
        <p:nvPicPr>
          <p:cNvPr id="14" name="Image 2" descr="/home/claude/ppt/icons/feat_dash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884" y="2057400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43500" y="2697480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7301484" y="1691640"/>
            <a:ext cx="208483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2E">
                <a:alpha val="14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033004" y="1911096"/>
            <a:ext cx="621792" cy="621792"/>
          </a:xfrm>
          <a:prstGeom prst="ellipse">
            <a:avLst/>
          </a:prstGeom>
          <a:solidFill>
            <a:srgbClr val="EAF6F4"/>
          </a:solidFill>
          <a:ln/>
        </p:spPr>
      </p:sp>
      <p:pic>
        <p:nvPicPr>
          <p:cNvPr id="18" name="Image 3" descr="/home/claude/ppt/icons/feat_profi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9308" y="2057400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392924" y="2697480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Profile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9550908" y="1691640"/>
            <a:ext cx="208483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2E">
                <a:alpha val="14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0282428" y="1911096"/>
            <a:ext cx="621792" cy="621792"/>
          </a:xfrm>
          <a:prstGeom prst="ellipse">
            <a:avLst/>
          </a:prstGeom>
          <a:solidFill>
            <a:srgbClr val="EAF6F4"/>
          </a:solidFill>
          <a:ln/>
        </p:spPr>
      </p:sp>
      <p:pic>
        <p:nvPicPr>
          <p:cNvPr id="22" name="Image 4" descr="/home/claude/ppt/icons/feat_record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8732" y="2057400"/>
            <a:ext cx="329184" cy="32918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642348" y="2697480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Records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553212" y="3858768"/>
            <a:ext cx="208483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2E">
                <a:alpha val="14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1284732" y="4078224"/>
            <a:ext cx="621792" cy="621792"/>
          </a:xfrm>
          <a:prstGeom prst="ellipse">
            <a:avLst/>
          </a:prstGeom>
          <a:solidFill>
            <a:srgbClr val="EAF6F4"/>
          </a:solidFill>
          <a:ln/>
        </p:spPr>
      </p:sp>
      <p:pic>
        <p:nvPicPr>
          <p:cNvPr id="26" name="Image 5" descr="/home/claude/ppt/icons/feat_pill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1036" y="4224528"/>
            <a:ext cx="329184" cy="32918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44652" y="4864608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Reminder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2802636" y="3858768"/>
            <a:ext cx="208483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2E">
                <a:alpha val="14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3534156" y="4078224"/>
            <a:ext cx="621792" cy="621792"/>
          </a:xfrm>
          <a:prstGeom prst="ellipse">
            <a:avLst/>
          </a:prstGeom>
          <a:solidFill>
            <a:srgbClr val="EAF6F4"/>
          </a:solidFill>
          <a:ln/>
        </p:spPr>
      </p:sp>
      <p:pic>
        <p:nvPicPr>
          <p:cNvPr id="30" name="Image 6" descr="/home/claude/ppt/icons/feat_appointmen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80460" y="4224528"/>
            <a:ext cx="329184" cy="32918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2894076" y="4864608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Booking</a:t>
            </a:r>
            <a:endParaRPr lang="en-US" sz="1150" dirty="0"/>
          </a:p>
        </p:txBody>
      </p:sp>
      <p:sp>
        <p:nvSpPr>
          <p:cNvPr id="32" name="Shape 23"/>
          <p:cNvSpPr/>
          <p:nvPr/>
        </p:nvSpPr>
        <p:spPr>
          <a:xfrm>
            <a:off x="5052060" y="3858768"/>
            <a:ext cx="208483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2E">
                <a:alpha val="14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5783580" y="4078224"/>
            <a:ext cx="621792" cy="621792"/>
          </a:xfrm>
          <a:prstGeom prst="ellipse">
            <a:avLst/>
          </a:prstGeom>
          <a:solidFill>
            <a:srgbClr val="EAF6F4"/>
          </a:solidFill>
          <a:ln/>
        </p:spPr>
      </p:sp>
      <p:pic>
        <p:nvPicPr>
          <p:cNvPr id="34" name="Image 7" descr="/home/claude/ppt/icons/feat_emergenc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29884" y="4224528"/>
            <a:ext cx="329184" cy="329184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143500" y="4864608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Contacts</a:t>
            </a:r>
            <a:endParaRPr lang="en-US" sz="1150" dirty="0"/>
          </a:p>
        </p:txBody>
      </p:sp>
      <p:sp>
        <p:nvSpPr>
          <p:cNvPr id="36" name="Shape 26"/>
          <p:cNvSpPr/>
          <p:nvPr/>
        </p:nvSpPr>
        <p:spPr>
          <a:xfrm>
            <a:off x="7301484" y="3858768"/>
            <a:ext cx="208483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2E">
                <a:alpha val="14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8033004" y="4078224"/>
            <a:ext cx="621792" cy="621792"/>
          </a:xfrm>
          <a:prstGeom prst="ellipse">
            <a:avLst/>
          </a:prstGeom>
          <a:solidFill>
            <a:srgbClr val="EAF6F4"/>
          </a:solidFill>
          <a:ln/>
        </p:spPr>
      </p:sp>
      <p:pic>
        <p:nvPicPr>
          <p:cNvPr id="38" name="Image 8" descr="/home/claude/ppt/icons/feat_awareness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79308" y="4224528"/>
            <a:ext cx="329184" cy="329184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7392924" y="4864608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Awareness</a:t>
            </a:r>
            <a:endParaRPr lang="en-US" sz="1150" dirty="0"/>
          </a:p>
        </p:txBody>
      </p:sp>
      <p:sp>
        <p:nvSpPr>
          <p:cNvPr id="40" name="Shape 29"/>
          <p:cNvSpPr/>
          <p:nvPr/>
        </p:nvSpPr>
        <p:spPr>
          <a:xfrm>
            <a:off x="9550908" y="3858768"/>
            <a:ext cx="208483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2E">
                <a:alpha val="14000"/>
              </a:srgbClr>
            </a:outerShdw>
          </a:effectLst>
        </p:spPr>
      </p:sp>
      <p:sp>
        <p:nvSpPr>
          <p:cNvPr id="41" name="Shape 30"/>
          <p:cNvSpPr/>
          <p:nvPr/>
        </p:nvSpPr>
        <p:spPr>
          <a:xfrm>
            <a:off x="10282428" y="4078224"/>
            <a:ext cx="621792" cy="621792"/>
          </a:xfrm>
          <a:prstGeom prst="ellipse">
            <a:avLst/>
          </a:prstGeom>
          <a:solidFill>
            <a:srgbClr val="EAF6F4"/>
          </a:solidFill>
          <a:ln/>
        </p:spPr>
      </p:sp>
      <p:pic>
        <p:nvPicPr>
          <p:cNvPr id="42" name="Image 9" descr="/home/claude/ppt/icons/feat_admin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28732" y="4224528"/>
            <a:ext cx="329184" cy="329184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9642348" y="4864608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150" dirty="0"/>
          </a:p>
        </p:txBody>
      </p:sp>
      <p:sp>
        <p:nvSpPr>
          <p:cNvPr id="44" name="Text 3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Healthcare Assistance Web Application</a:t>
            </a:r>
            <a:endParaRPr lang="en-US" sz="900" dirty="0"/>
          </a:p>
        </p:txBody>
      </p:sp>
      <p:sp>
        <p:nvSpPr>
          <p:cNvPr id="45" name="Text 3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8076" y="1691640"/>
            <a:ext cx="2606040" cy="4297680"/>
          </a:xfrm>
          <a:prstGeom prst="roundRect">
            <a:avLst>
              <a:gd name="adj" fmla="val 3509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45236" y="18928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90956" y="2377440"/>
            <a:ext cx="2240280" cy="713232"/>
          </a:xfrm>
          <a:prstGeom prst="roundRect">
            <a:avLst>
              <a:gd name="adj" fmla="val 11538"/>
            </a:avLst>
          </a:prstGeom>
          <a:solidFill>
            <a:srgbClr val="FFFFFF">
              <a:alpha val="88000"/>
            </a:srgbClr>
          </a:solidFill>
          <a:ln/>
        </p:spPr>
      </p:sp>
      <p:pic>
        <p:nvPicPr>
          <p:cNvPr id="7" name="Image 0" descr="/home/claude/ppt/icons/tech_htm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2514600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76756" y="237744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90956" y="3227832"/>
            <a:ext cx="2240280" cy="713232"/>
          </a:xfrm>
          <a:prstGeom prst="roundRect">
            <a:avLst>
              <a:gd name="adj" fmla="val 11538"/>
            </a:avLst>
          </a:prstGeom>
          <a:solidFill>
            <a:srgbClr val="FFFFFF">
              <a:alpha val="88000"/>
            </a:srgbClr>
          </a:solidFill>
          <a:ln/>
        </p:spPr>
      </p:sp>
      <p:pic>
        <p:nvPicPr>
          <p:cNvPr id="10" name="Image 1" descr="/home/claude/ppt/icons/tech_c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" y="3364992"/>
            <a:ext cx="438912" cy="4389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76756" y="3227832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790956" y="4078224"/>
            <a:ext cx="2240280" cy="713232"/>
          </a:xfrm>
          <a:prstGeom prst="roundRect">
            <a:avLst>
              <a:gd name="adj" fmla="val 11538"/>
            </a:avLst>
          </a:prstGeom>
          <a:solidFill>
            <a:srgbClr val="FFFFFF">
              <a:alpha val="88000"/>
            </a:srgbClr>
          </a:solidFill>
          <a:ln/>
        </p:spPr>
      </p:sp>
      <p:pic>
        <p:nvPicPr>
          <p:cNvPr id="13" name="Image 2" descr="/home/claude/ppt/icons/tech_bootstr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" y="4215384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76756" y="4078224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790956" y="4928616"/>
            <a:ext cx="2240280" cy="713232"/>
          </a:xfrm>
          <a:prstGeom prst="roundRect">
            <a:avLst>
              <a:gd name="adj" fmla="val 11538"/>
            </a:avLst>
          </a:prstGeom>
          <a:solidFill>
            <a:srgbClr val="FFFFFF">
              <a:alpha val="88000"/>
            </a:srgbClr>
          </a:solidFill>
          <a:ln/>
        </p:spPr>
      </p:sp>
      <p:pic>
        <p:nvPicPr>
          <p:cNvPr id="16" name="Image 3" descr="/home/claude/ppt/icons/tech_j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" y="5065776"/>
            <a:ext cx="438912" cy="4389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76756" y="4928616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3396996" y="1691640"/>
            <a:ext cx="2606040" cy="4297680"/>
          </a:xfrm>
          <a:prstGeom prst="roundRect">
            <a:avLst>
              <a:gd name="adj" fmla="val 3509"/>
            </a:avLst>
          </a:prstGeom>
          <a:solidFill>
            <a:srgbClr val="00A896"/>
          </a:solidFill>
          <a:ln/>
        </p:spPr>
      </p:sp>
      <p:sp>
        <p:nvSpPr>
          <p:cNvPr id="19" name="Text 13"/>
          <p:cNvSpPr/>
          <p:nvPr/>
        </p:nvSpPr>
        <p:spPr>
          <a:xfrm>
            <a:off x="3534156" y="18928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3579876" y="2377440"/>
            <a:ext cx="2240280" cy="713232"/>
          </a:xfrm>
          <a:prstGeom prst="roundRect">
            <a:avLst>
              <a:gd name="adj" fmla="val 11538"/>
            </a:avLst>
          </a:prstGeom>
          <a:solidFill>
            <a:srgbClr val="FFFFFF">
              <a:alpha val="88000"/>
            </a:srgbClr>
          </a:solidFill>
          <a:ln/>
        </p:spPr>
      </p:sp>
      <p:pic>
        <p:nvPicPr>
          <p:cNvPr id="21" name="Image 4" descr="/home/claude/ppt/icons/tech_pyth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7892" y="2514600"/>
            <a:ext cx="438912" cy="43891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265676" y="237744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Flask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6185916" y="1691640"/>
            <a:ext cx="2606040" cy="4297680"/>
          </a:xfrm>
          <a:prstGeom prst="roundRect">
            <a:avLst>
              <a:gd name="adj" fmla="val 3509"/>
            </a:avLst>
          </a:prstGeom>
          <a:solidFill>
            <a:srgbClr val="02C39A"/>
          </a:solidFill>
          <a:ln/>
        </p:spPr>
      </p:sp>
      <p:sp>
        <p:nvSpPr>
          <p:cNvPr id="24" name="Text 17"/>
          <p:cNvSpPr/>
          <p:nvPr/>
        </p:nvSpPr>
        <p:spPr>
          <a:xfrm>
            <a:off x="6323076" y="18928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6368796" y="2377440"/>
            <a:ext cx="2240280" cy="713232"/>
          </a:xfrm>
          <a:prstGeom prst="roundRect">
            <a:avLst>
              <a:gd name="adj" fmla="val 11538"/>
            </a:avLst>
          </a:prstGeom>
          <a:solidFill>
            <a:srgbClr val="FFFFFF">
              <a:alpha val="88000"/>
            </a:srgbClr>
          </a:solidFill>
          <a:ln/>
        </p:spPr>
      </p:sp>
      <p:pic>
        <p:nvPicPr>
          <p:cNvPr id="26" name="Image 5" descr="/home/claude/ppt/icons/tech_d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6812" y="2514600"/>
            <a:ext cx="438912" cy="43891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054596" y="237744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8974836" y="1691640"/>
            <a:ext cx="2606040" cy="4297680"/>
          </a:xfrm>
          <a:prstGeom prst="roundRect">
            <a:avLst>
              <a:gd name="adj" fmla="val 3509"/>
            </a:avLst>
          </a:prstGeom>
          <a:solidFill>
            <a:srgbClr val="013A40"/>
          </a:solidFill>
          <a:ln/>
        </p:spPr>
      </p:sp>
      <p:sp>
        <p:nvSpPr>
          <p:cNvPr id="29" name="Text 21"/>
          <p:cNvSpPr/>
          <p:nvPr/>
        </p:nvSpPr>
        <p:spPr>
          <a:xfrm>
            <a:off x="9111996" y="18928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300" dirty="0"/>
          </a:p>
        </p:txBody>
      </p:sp>
      <p:sp>
        <p:nvSpPr>
          <p:cNvPr id="30" name="Shape 22"/>
          <p:cNvSpPr/>
          <p:nvPr/>
        </p:nvSpPr>
        <p:spPr>
          <a:xfrm>
            <a:off x="9157716" y="2377440"/>
            <a:ext cx="2240280" cy="713232"/>
          </a:xfrm>
          <a:prstGeom prst="roundRect">
            <a:avLst>
              <a:gd name="adj" fmla="val 11538"/>
            </a:avLst>
          </a:prstGeom>
          <a:solidFill>
            <a:srgbClr val="FFFFFF">
              <a:alpha val="88000"/>
            </a:srgbClr>
          </a:solidFill>
          <a:ln/>
        </p:spPr>
      </p:sp>
      <p:pic>
        <p:nvPicPr>
          <p:cNvPr id="31" name="Image 6" descr="/home/claude/ppt/icons/tech_vscod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5732" y="2514600"/>
            <a:ext cx="438912" cy="43891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9843516" y="237744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150" dirty="0"/>
          </a:p>
        </p:txBody>
      </p:sp>
      <p:sp>
        <p:nvSpPr>
          <p:cNvPr id="33" name="Shape 24"/>
          <p:cNvSpPr/>
          <p:nvPr/>
        </p:nvSpPr>
        <p:spPr>
          <a:xfrm>
            <a:off x="9157716" y="3227832"/>
            <a:ext cx="2240280" cy="713232"/>
          </a:xfrm>
          <a:prstGeom prst="roundRect">
            <a:avLst>
              <a:gd name="adj" fmla="val 11538"/>
            </a:avLst>
          </a:prstGeom>
          <a:solidFill>
            <a:srgbClr val="FFFFFF">
              <a:alpha val="88000"/>
            </a:srgbClr>
          </a:solidFill>
          <a:ln/>
        </p:spPr>
      </p:sp>
      <p:pic>
        <p:nvPicPr>
          <p:cNvPr id="34" name="Image 7" descr="/home/claude/ppt/icons/tech_gi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5732" y="3364992"/>
            <a:ext cx="438912" cy="438912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9843516" y="3227832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150" dirty="0"/>
          </a:p>
        </p:txBody>
      </p:sp>
      <p:sp>
        <p:nvSpPr>
          <p:cNvPr id="36" name="Shape 26"/>
          <p:cNvSpPr/>
          <p:nvPr/>
        </p:nvSpPr>
        <p:spPr>
          <a:xfrm>
            <a:off x="9157716" y="4078224"/>
            <a:ext cx="2240280" cy="713232"/>
          </a:xfrm>
          <a:prstGeom prst="roundRect">
            <a:avLst>
              <a:gd name="adj" fmla="val 11538"/>
            </a:avLst>
          </a:prstGeom>
          <a:solidFill>
            <a:srgbClr val="FFFFFF">
              <a:alpha val="88000"/>
            </a:srgbClr>
          </a:solidFill>
          <a:ln/>
        </p:spPr>
      </p:sp>
      <p:pic>
        <p:nvPicPr>
          <p:cNvPr id="37" name="Image 8" descr="/home/claude/ppt/icons/tech_github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85732" y="4215384"/>
            <a:ext cx="438912" cy="438912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9843516" y="4078224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50" dirty="0"/>
          </a:p>
        </p:txBody>
      </p:sp>
      <p:sp>
        <p:nvSpPr>
          <p:cNvPr id="39" name="Text 2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Healthcare Assistance Web Application</a:t>
            </a:r>
            <a:endParaRPr lang="en-US" sz="900" dirty="0"/>
          </a:p>
        </p:txBody>
      </p:sp>
      <p:sp>
        <p:nvSpPr>
          <p:cNvPr id="40" name="Text 29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3796" y="265176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  <a:effectLst>
            <a:outerShdw sx="100000" sy="100000" kx="0" ky="0" algn="bl" rotWithShape="0" blurRad="63500" dist="25400" dir="5400000">
              <a:srgbClr val="1B2A2E">
                <a:alpha val="16000"/>
              </a:srgbClr>
            </a:outerShdw>
          </a:effectLst>
        </p:spPr>
      </p:sp>
      <p:pic>
        <p:nvPicPr>
          <p:cNvPr id="5" name="Image 0" descr="/home/claude/ppt/icons/arch_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6172" y="2798064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5236" y="334670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2592324" y="3227832"/>
            <a:ext cx="283464" cy="219456"/>
          </a:xfrm>
          <a:prstGeom prst="rightArrow">
            <a:avLst/>
          </a:prstGeom>
          <a:solidFill>
            <a:srgbClr val="013A40"/>
          </a:solidFill>
          <a:ln/>
        </p:spPr>
      </p:sp>
      <p:sp>
        <p:nvSpPr>
          <p:cNvPr id="8" name="Text 5"/>
          <p:cNvSpPr/>
          <p:nvPr/>
        </p:nvSpPr>
        <p:spPr>
          <a:xfrm>
            <a:off x="516636" y="42519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Accesses the platform from any device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894076" y="265176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00A896"/>
          </a:solidFill>
          <a:ln/>
          <a:effectLst>
            <a:outerShdw sx="100000" sy="100000" kx="0" ky="0" algn="bl" rotWithShape="0" blurRad="63500" dist="25400" dir="5400000">
              <a:srgbClr val="1B2A2E">
                <a:alpha val="16000"/>
              </a:srgbClr>
            </a:outerShdw>
          </a:effectLst>
        </p:spPr>
      </p:sp>
      <p:pic>
        <p:nvPicPr>
          <p:cNvPr id="10" name="Image 1" descr="/home/claude/ppt/icons/arch_fronte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6452" y="2798064"/>
            <a:ext cx="475488" cy="4754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985516" y="334670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832604" y="3227832"/>
            <a:ext cx="283464" cy="219456"/>
          </a:xfrm>
          <a:prstGeom prst="rightArrow">
            <a:avLst/>
          </a:prstGeom>
          <a:solidFill>
            <a:srgbClr val="013A40"/>
          </a:solidFill>
          <a:ln/>
        </p:spPr>
      </p:sp>
      <p:sp>
        <p:nvSpPr>
          <p:cNvPr id="13" name="Text 9"/>
          <p:cNvSpPr/>
          <p:nvPr/>
        </p:nvSpPr>
        <p:spPr>
          <a:xfrm>
            <a:off x="2756916" y="42519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Bootstrap &amp; JavaScript UI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134356" y="265176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02C39A"/>
          </a:solidFill>
          <a:ln/>
          <a:effectLst>
            <a:outerShdw sx="100000" sy="100000" kx="0" ky="0" algn="bl" rotWithShape="0" blurRad="63500" dist="25400" dir="5400000">
              <a:srgbClr val="1B2A2E">
                <a:alpha val="16000"/>
              </a:srgbClr>
            </a:outerShdw>
          </a:effectLst>
        </p:spPr>
      </p:sp>
      <p:pic>
        <p:nvPicPr>
          <p:cNvPr id="15" name="Image 2" descr="/home/claude/ppt/icons/arch_backe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6732" y="2798064"/>
            <a:ext cx="475488" cy="4754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25796" y="334670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7072884" y="3227832"/>
            <a:ext cx="283464" cy="219456"/>
          </a:xfrm>
          <a:prstGeom prst="rightArrow">
            <a:avLst/>
          </a:prstGeom>
          <a:solidFill>
            <a:srgbClr val="013A40"/>
          </a:solidFill>
          <a:ln/>
        </p:spPr>
      </p:sp>
      <p:sp>
        <p:nvSpPr>
          <p:cNvPr id="18" name="Text 13"/>
          <p:cNvSpPr/>
          <p:nvPr/>
        </p:nvSpPr>
        <p:spPr>
          <a:xfrm>
            <a:off x="4997196" y="42519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logic, routes &amp; requests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7374636" y="265176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00A896"/>
          </a:solidFill>
          <a:ln/>
          <a:effectLst>
            <a:outerShdw sx="100000" sy="100000" kx="0" ky="0" algn="bl" rotWithShape="0" blurRad="63500" dist="25400" dir="5400000">
              <a:srgbClr val="1B2A2E">
                <a:alpha val="16000"/>
              </a:srgbClr>
            </a:outerShdw>
          </a:effectLst>
        </p:spPr>
      </p:sp>
      <p:pic>
        <p:nvPicPr>
          <p:cNvPr id="20" name="Image 3" descr="/home/claude/ppt/icons/arch_d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012" y="2798064"/>
            <a:ext cx="475488" cy="4754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66076" y="334670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13164" y="3227832"/>
            <a:ext cx="283464" cy="219456"/>
          </a:xfrm>
          <a:prstGeom prst="rightArrow">
            <a:avLst/>
          </a:prstGeom>
          <a:solidFill>
            <a:srgbClr val="013A40"/>
          </a:solidFill>
          <a:ln/>
        </p:spPr>
      </p:sp>
      <p:sp>
        <p:nvSpPr>
          <p:cNvPr id="23" name="Text 17"/>
          <p:cNvSpPr/>
          <p:nvPr/>
        </p:nvSpPr>
        <p:spPr>
          <a:xfrm>
            <a:off x="7237476" y="42519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users, records &amp; appointments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9614916" y="265176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  <a:effectLst>
            <a:outerShdw sx="100000" sy="100000" kx="0" ky="0" algn="bl" rotWithShape="0" blurRad="63500" dist="25400" dir="5400000">
              <a:srgbClr val="1B2A2E">
                <a:alpha val="16000"/>
              </a:srgbClr>
            </a:outerShdw>
          </a:effectLst>
        </p:spPr>
      </p:sp>
      <p:pic>
        <p:nvPicPr>
          <p:cNvPr id="25" name="Image 4" descr="/home/claude/ppt/icons/arch_healt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7292" y="2798064"/>
            <a:ext cx="475488" cy="47548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706356" y="334670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Information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9477756" y="42519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back to the user in real time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1097280" y="12344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from the user through the responsive frontend into the Flask backend, which reads and writes to the SQLite database and returns healthcare information instantly.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Healthcare Assistance Web Application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114800" cy="41148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937760"/>
            <a:ext cx="3291840" cy="329184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63524" y="1691640"/>
            <a:ext cx="2514600" cy="1965960"/>
          </a:xfrm>
          <a:prstGeom prst="roundRect">
            <a:avLst>
              <a:gd name="adj" fmla="val 4651"/>
            </a:avLst>
          </a:prstGeom>
          <a:solidFill>
            <a:srgbClr val="05464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00784" y="192024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8" name="Image 0" descr="/home/claude/ppt/icons/fut_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7088" y="2066544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54964" y="27432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Symptom Checker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79292" y="1691640"/>
            <a:ext cx="2514600" cy="1965960"/>
          </a:xfrm>
          <a:prstGeom prst="roundRect">
            <a:avLst>
              <a:gd name="adj" fmla="val 4651"/>
            </a:avLst>
          </a:prstGeom>
          <a:solidFill>
            <a:srgbClr val="05464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16552" y="192024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2" name="Image 1" descr="/home/claude/ppt/icons/fut_vide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856" y="206654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70732" y="27432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95060" y="1691640"/>
            <a:ext cx="2514600" cy="1965960"/>
          </a:xfrm>
          <a:prstGeom prst="roundRect">
            <a:avLst>
              <a:gd name="adj" fmla="val 4651"/>
            </a:avLst>
          </a:prstGeom>
          <a:solidFill>
            <a:srgbClr val="05464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132320" y="192024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/home/claude/ppt/icons/fut_clou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624" y="206654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86500" y="27432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910828" y="1691640"/>
            <a:ext cx="2514600" cy="1965960"/>
          </a:xfrm>
          <a:prstGeom prst="roundRect">
            <a:avLst>
              <a:gd name="adj" fmla="val 4651"/>
            </a:avLst>
          </a:prstGeom>
          <a:solidFill>
            <a:srgbClr val="05464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848088" y="192024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0" name="Image 3" descr="/home/claude/ppt/icons/fut_cha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4392" y="2066544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002268" y="27432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763524" y="3886200"/>
            <a:ext cx="2514600" cy="1965960"/>
          </a:xfrm>
          <a:prstGeom prst="roundRect">
            <a:avLst>
              <a:gd name="adj" fmla="val 4651"/>
            </a:avLst>
          </a:prstGeom>
          <a:solidFill>
            <a:srgbClr val="05464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700784" y="411480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4" name="Image 4" descr="/home/claude/ppt/icons/fut_sm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7088" y="4261104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54964" y="49377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&amp; Email Reminders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3479292" y="3886200"/>
            <a:ext cx="2514600" cy="1965960"/>
          </a:xfrm>
          <a:prstGeom prst="roundRect">
            <a:avLst>
              <a:gd name="adj" fmla="val 4651"/>
            </a:avLst>
          </a:prstGeom>
          <a:solidFill>
            <a:srgbClr val="05464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4416552" y="411480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8" name="Image 5" descr="/home/claude/ppt/icons/fut_lan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2856" y="4261104"/>
            <a:ext cx="347472" cy="34747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570732" y="49377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6195060" y="3886200"/>
            <a:ext cx="2514600" cy="1965960"/>
          </a:xfrm>
          <a:prstGeom prst="roundRect">
            <a:avLst>
              <a:gd name="adj" fmla="val 4651"/>
            </a:avLst>
          </a:prstGeom>
          <a:solidFill>
            <a:srgbClr val="05464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7132320" y="411480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2" name="Image 6" descr="/home/claude/ppt/icons/fut_watch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78624" y="4261104"/>
            <a:ext cx="347472" cy="34747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286500" y="49377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Device Integration</a:t>
            </a:r>
            <a:endParaRPr lang="en-US" sz="1200" dirty="0"/>
          </a:p>
        </p:txBody>
      </p:sp>
      <p:sp>
        <p:nvSpPr>
          <p:cNvPr id="34" name="Shape 25"/>
          <p:cNvSpPr/>
          <p:nvPr/>
        </p:nvSpPr>
        <p:spPr>
          <a:xfrm>
            <a:off x="8910828" y="3886200"/>
            <a:ext cx="2514600" cy="1965960"/>
          </a:xfrm>
          <a:prstGeom prst="roundRect">
            <a:avLst>
              <a:gd name="adj" fmla="val 4651"/>
            </a:avLst>
          </a:prstGeom>
          <a:solidFill>
            <a:srgbClr val="05464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Shape 26"/>
          <p:cNvSpPr/>
          <p:nvPr/>
        </p:nvSpPr>
        <p:spPr>
          <a:xfrm>
            <a:off x="9848088" y="411480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6" name="Image 7" descr="/home/claude/ppt/icons/fut_char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94392" y="4261104"/>
            <a:ext cx="347472" cy="347472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9002268" y="49377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Analytics Dashboard</a:t>
            </a:r>
            <a:endParaRPr lang="en-US" sz="1200" dirty="0"/>
          </a:p>
        </p:txBody>
      </p:sp>
      <p:sp>
        <p:nvSpPr>
          <p:cNvPr id="38" name="Text 2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Healthcare Assistance Web Application</a:t>
            </a:r>
            <a:endParaRPr lang="en-US" sz="900" dirty="0"/>
          </a:p>
        </p:txBody>
      </p:sp>
      <p:sp>
        <p:nvSpPr>
          <p:cNvPr id="39" name="Text 29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4937760" cy="493776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6400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4" name="Image 0" descr="/home/claude/ppt/icons/conc_he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850392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74520" y="7132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874520" y="10058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Bringing Healthcare Closer to Every Village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2148840"/>
            <a:ext cx="384048" cy="384048"/>
          </a:xfrm>
          <a:prstGeom prst="ellipse">
            <a:avLst/>
          </a:prstGeom>
          <a:solidFill>
            <a:srgbClr val="05464C"/>
          </a:solidFill>
          <a:ln/>
        </p:spPr>
      </p:sp>
      <p:pic>
        <p:nvPicPr>
          <p:cNvPr id="8" name="Image 1" descr="/home/claude/ppt/icons/conc_check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2231136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12140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 complete healthcare web application for rural communities.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822960" y="2807208"/>
            <a:ext cx="384048" cy="384048"/>
          </a:xfrm>
          <a:prstGeom prst="ellipse">
            <a:avLst/>
          </a:prstGeom>
          <a:solidFill>
            <a:srgbClr val="05464C"/>
          </a:solidFill>
          <a:ln/>
        </p:spPr>
      </p:sp>
      <p:pic>
        <p:nvPicPr>
          <p:cNvPr id="11" name="Image 2" descr="/home/claude/ppt/icons/conc_check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2889504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277977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Flask and SQLite to build a reliable, lightweight system.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822960" y="3465576"/>
            <a:ext cx="384048" cy="384048"/>
          </a:xfrm>
          <a:prstGeom prst="ellipse">
            <a:avLst/>
          </a:prstGeom>
          <a:solidFill>
            <a:srgbClr val="05464C"/>
          </a:solidFill>
          <a:ln/>
        </p:spPr>
      </p:sp>
      <p:pic>
        <p:nvPicPr>
          <p:cNvPr id="14" name="Image 3" descr="/home/claude/ppt/icons/conc_check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3547872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71600" y="343814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digital healthcare management, records, and reminders.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822960" y="4123944"/>
            <a:ext cx="384048" cy="384048"/>
          </a:xfrm>
          <a:prstGeom prst="ellipse">
            <a:avLst/>
          </a:prstGeom>
          <a:solidFill>
            <a:srgbClr val="05464C"/>
          </a:solidFill>
          <a:ln/>
        </p:spPr>
      </p:sp>
      <p:pic>
        <p:nvPicPr>
          <p:cNvPr id="17" name="Image 4" descr="/home/claude/ppt/icons/conc_check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4206240"/>
            <a:ext cx="219456" cy="21945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71600" y="409651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further enhanced using AI and Machine Learning.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822960" y="5074920"/>
            <a:ext cx="1051560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822960" y="5257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21" name="Text 14"/>
          <p:cNvSpPr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2026-08-06T08:56:46Z</dcterms:created>
  <dcterms:modified xsi:type="dcterms:W3CDTF">2026-08-06T08:56:46Z</dcterms:modified>
</cp:coreProperties>
</file>